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010A1F-4253-4079-9C94-971462979A8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7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B801-C5F2-B45C-D2DE-02CB1F7B7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9EDDDA-E528-FB2A-08D0-9F006D882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0196B-33C1-B0BB-AB5A-CD6F37F24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78143-0E80-4D5B-92A8-ED2DFCE670E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24A51-CACB-FA60-BAF0-A511BDE87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81848-AA92-4BBF-46AD-D903C94AE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1772-8C05-43DB-B1AE-115AA81E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20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E861-816D-35EF-8215-E72940454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2BCF1-02F6-06B5-DA6F-91091E8DD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044C1-470F-1813-49DD-06AF1CC19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78143-0E80-4D5B-92A8-ED2DFCE670E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6CF1C-C792-7AB5-5274-5A1148C0F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01B32-17B7-D788-2D05-56187658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1772-8C05-43DB-B1AE-115AA81E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3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6000-B716-5198-953F-0C3C8B641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85F09-75BA-4A80-C1FD-076908CE9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87370-7F93-A834-F928-07094BC96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78143-0E80-4D5B-92A8-ED2DFCE670E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4577B-F25B-5CAC-44B4-96CD5AF3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CD25A-3855-BA17-47A6-E92487EF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1772-8C05-43DB-B1AE-115AA81E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73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8D24D-7F70-8BFE-AFFD-000AB6A0F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625B8-5428-DD5F-1B72-5225FC81F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7BB75-EFA1-E6C6-690C-0E236E85C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1B5E6-6A0A-359F-553D-D0D01D6D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78143-0E80-4D5B-92A8-ED2DFCE670E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5E79C-2B9F-9A35-FE83-DFA06D1A3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1A83A-3D84-B293-6274-61E0AAD5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1772-8C05-43DB-B1AE-115AA81E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5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7F87-66CE-C463-FC95-E91C042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9ED0-6A2D-C5B9-A596-39DCE690B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376AD-7C18-52E2-C527-5E68819BC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D1968-ED0C-4E7F-BEF0-CA0B9DED2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16BF55-2322-2C60-1ACD-C286095DE6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A8C9EC-9A2A-3AC7-F2BE-38D51DDB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78143-0E80-4D5B-92A8-ED2DFCE670E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6DCF51-4BA3-8153-215B-76714B875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565843-18B4-47A1-339B-74E92D69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1772-8C05-43DB-B1AE-115AA81E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29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0726-8866-3E22-4032-4B57D83D5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4E8A2F-715E-4952-95D0-20E9B9A5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78143-0E80-4D5B-92A8-ED2DFCE670E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252DB-9CCA-756C-4389-EF1DFDE13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5E33D-ADA4-F327-EED3-B4029547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1772-8C05-43DB-B1AE-115AA81E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49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4DDF30-34BA-D833-1BA7-726A983FD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78143-0E80-4D5B-92A8-ED2DFCE670E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5749B-995F-7C4A-56F7-0B6E3F776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0A56A-9B75-2CB4-471F-3F7046687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1772-8C05-43DB-B1AE-115AA81E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55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63E9-3826-DE68-C6D0-1BA179D16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A14CA-7E10-3F2A-BCAC-9834B88C1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DB1D6-FCF3-AE98-3FFF-E714DA6F0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C83E3-A1B1-FD4E-B4A4-FFB4FEE55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78143-0E80-4D5B-92A8-ED2DFCE670E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9143F-8C4A-F4A1-A27C-5C04D7D6B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CF180-E303-3D44-1F15-94F2C7FC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1772-8C05-43DB-B1AE-115AA81E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D1EEF-4ECF-54B7-5C05-8768C9DD7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EBE81-3B26-3738-DD7C-9F4190DE0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1D21F-2588-4C54-3F34-54FFCC288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9D1E-207D-728C-361B-55689708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78143-0E80-4D5B-92A8-ED2DFCE670E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55AFC-BE38-123B-B989-3A49442D6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56333-EEB0-3799-082D-A31A09EB2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1772-8C05-43DB-B1AE-115AA81E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726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54C1F-ECA7-7F45-8EA0-5A6A2F44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61E2F-C1D5-B8A4-F563-C1F56D13E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FECB7-26D0-0DD9-F687-7E66C997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78143-0E80-4D5B-92A8-ED2DFCE670E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5B1F7-FC74-41D2-E58F-48723D76E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3D515-ED67-7A5A-439B-251DD126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1772-8C05-43DB-B1AE-115AA81E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7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EBBC6A-FE1A-FC3E-A125-0C94B2987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E6E3C-AB79-37C5-39AC-8981669BA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18B7C-5308-05D5-290B-298A7A8C7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78143-0E80-4D5B-92A8-ED2DFCE670E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3922B-9BE2-274D-FCB4-93EC5774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78F7-4054-74AA-1BDF-3E1E19BC7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41772-8C05-43DB-B1AE-115AA81E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30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D2F595-CA36-D41A-BC79-09A0E2920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18D20-1B1A-8E38-459E-E47703BE8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201DF-9B3C-35FF-9960-15DC27CDC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78143-0E80-4D5B-92A8-ED2DFCE670E6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6DE38-F22A-0A61-7315-048892AAD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ECB3E-E765-F634-E3E3-387BA3090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41772-8C05-43DB-B1AE-115AA81E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7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bhOr-KdjjQjOQ13TKr4b6WiEq42trPQj/view" TargetMode="External"/><Relationship Id="rId2" Type="http://schemas.openxmlformats.org/officeDocument/2006/relationships/hyperlink" Target="https://verilogcodes.blogspot.com/2020/12/synthesizable-clocked-square-root.html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C6FC6-4F84-BE4B-1AD1-AFC806B86C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ECE 622 Project – Sobel Filter Operation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33254-C8CF-283B-21C8-08B423F3F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5454" y="5735637"/>
            <a:ext cx="3186545" cy="981508"/>
          </a:xfrm>
        </p:spPr>
        <p:txBody>
          <a:bodyPr/>
          <a:lstStyle/>
          <a:p>
            <a:r>
              <a:rPr lang="en-US" dirty="0"/>
              <a:t>Aaron Funes</a:t>
            </a:r>
          </a:p>
          <a:p>
            <a:r>
              <a:rPr lang="en-US" dirty="0"/>
              <a:t>5/10/26</a:t>
            </a:r>
          </a:p>
        </p:txBody>
      </p:sp>
    </p:spTree>
    <p:extLst>
      <p:ext uri="{BB962C8B-B14F-4D97-AF65-F5344CB8AC3E}">
        <p14:creationId xmlns:p14="http://schemas.microsoft.com/office/powerpoint/2010/main" val="2584960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2971F-3640-D731-6749-B9014A1FA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2CF9-B925-2656-84A2-33EE3449D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Design and References</a:t>
            </a:r>
          </a:p>
          <a:p>
            <a:r>
              <a:rPr lang="en-US" dirty="0"/>
              <a:t>Testbench Simulation</a:t>
            </a:r>
          </a:p>
          <a:p>
            <a:r>
              <a:rPr lang="en-US" dirty="0"/>
              <a:t>Results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490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14BC-8D4A-3786-F0F5-D0B74C28D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9574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6" name="Content Placeholder 5" descr="undefined">
            <a:extLst>
              <a:ext uri="{FF2B5EF4-FFF2-40B4-BE49-F238E27FC236}">
                <a16:creationId xmlns:a16="http://schemas.microsoft.com/office/drawing/2014/main" id="{95DA628F-42FE-9358-BAC4-58A7CDD685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4838" y="689372"/>
            <a:ext cx="3597275" cy="2697956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FB4325-4D60-6DDC-45A5-5AD4B1130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52945"/>
            <a:ext cx="3932237" cy="534785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Sobel Filter is used in Image Processing to perform edge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Filter operation is defined as such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Perform the filter operation a 3x3 pixel matrix is taken from the image, and then convolved with the following filters, G</a:t>
            </a:r>
            <a:r>
              <a:rPr lang="en-US" baseline="-25000" dirty="0"/>
              <a:t>x  </a:t>
            </a:r>
            <a:r>
              <a:rPr lang="en-US" dirty="0"/>
              <a:t>and</a:t>
            </a:r>
            <a:r>
              <a:rPr lang="en-US" baseline="-25000" dirty="0"/>
              <a:t> </a:t>
            </a:r>
            <a:r>
              <a:rPr lang="en-US" dirty="0"/>
              <a:t>G</a:t>
            </a:r>
            <a:r>
              <a:rPr lang="en-US" baseline="-25000" dirty="0"/>
              <a:t>y 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filters take the x-direction derivative, y-direction derivative, and averaging of the 9 pixels within the matrix.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 descr="undefined">
            <a:extLst>
              <a:ext uri="{FF2B5EF4-FFF2-40B4-BE49-F238E27FC236}">
                <a16:creationId xmlns:a16="http://schemas.microsoft.com/office/drawing/2014/main" id="{948D1772-2B96-03C3-7173-43AE301B8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838" y="3623072"/>
            <a:ext cx="3597275" cy="26979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F9F746-2BCB-21A9-C9B6-9B81EAD23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588" y="1905394"/>
            <a:ext cx="2038635" cy="5430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DB1D8A-FD13-62B6-CD18-F7DA4C63A2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2290" y="3623072"/>
            <a:ext cx="2515116" cy="162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508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5BB42-C475-AB17-EBC9-0A81682E8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7926B39-F1DA-1597-8EB3-2736750F8997}"/>
              </a:ext>
            </a:extLst>
          </p:cNvPr>
          <p:cNvSpPr/>
          <p:nvPr/>
        </p:nvSpPr>
        <p:spPr>
          <a:xfrm>
            <a:off x="7148945" y="755072"/>
            <a:ext cx="4304146" cy="51077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0F0762-27B3-99E5-71D3-591EA3853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95745"/>
          </a:xfrm>
        </p:spPr>
        <p:txBody>
          <a:bodyPr/>
          <a:lstStyle/>
          <a:p>
            <a:r>
              <a:rPr lang="en-US" dirty="0"/>
              <a:t>Design and References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A0160E-BF6B-D2D0-7997-F11C9BD28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52945"/>
            <a:ext cx="3932237" cy="534785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 is broken down into multiple modules.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Sobel X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Performs the X-direction filter application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Sobel 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Performs the Y-direction filter application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Square Root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Square root </a:t>
            </a:r>
            <a:r>
              <a:rPr lang="en-US" dirty="0" err="1"/>
              <a:t>operatorr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Sobel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Top level module with above lower level modules instantiated within.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98CACB-6FB2-90C0-AF33-C1F85160C33D}"/>
              </a:ext>
            </a:extLst>
          </p:cNvPr>
          <p:cNvSpPr/>
          <p:nvPr/>
        </p:nvSpPr>
        <p:spPr>
          <a:xfrm>
            <a:off x="7620000" y="1530928"/>
            <a:ext cx="1496291" cy="12561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Sobel 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85CE4A-8B7A-4B2E-B6F8-9BA10897DB1C}"/>
              </a:ext>
            </a:extLst>
          </p:cNvPr>
          <p:cNvSpPr/>
          <p:nvPr/>
        </p:nvSpPr>
        <p:spPr>
          <a:xfrm>
            <a:off x="9536545" y="1530927"/>
            <a:ext cx="1496291" cy="12561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Sobel 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E618A5-1253-B6D2-0B12-41127A03A088}"/>
              </a:ext>
            </a:extLst>
          </p:cNvPr>
          <p:cNvSpPr/>
          <p:nvPr/>
        </p:nvSpPr>
        <p:spPr>
          <a:xfrm>
            <a:off x="8552872" y="3562927"/>
            <a:ext cx="1496291" cy="12561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Square Root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31D919-00F6-0FEE-8018-F155B8F04F39}"/>
              </a:ext>
            </a:extLst>
          </p:cNvPr>
          <p:cNvSpPr txBox="1"/>
          <p:nvPr/>
        </p:nvSpPr>
        <p:spPr>
          <a:xfrm>
            <a:off x="8257309" y="914400"/>
            <a:ext cx="208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Sobel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968B90C-FB51-B9D7-EED3-9B7C5A6B3341}"/>
              </a:ext>
            </a:extLst>
          </p:cNvPr>
          <p:cNvCxnSpPr>
            <a:stCxn id="9" idx="2"/>
          </p:cNvCxnSpPr>
          <p:nvPr/>
        </p:nvCxnSpPr>
        <p:spPr>
          <a:xfrm rot="16200000" flipH="1">
            <a:off x="8303491" y="2851727"/>
            <a:ext cx="775854" cy="646545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2954E1F-F7A9-FBCA-E0EE-80873B413B49}"/>
              </a:ext>
            </a:extLst>
          </p:cNvPr>
          <p:cNvCxnSpPr>
            <a:cxnSpLocks/>
          </p:cNvCxnSpPr>
          <p:nvPr/>
        </p:nvCxnSpPr>
        <p:spPr>
          <a:xfrm rot="5400000">
            <a:off x="9661235" y="2851728"/>
            <a:ext cx="775854" cy="646545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E74354-2B41-4BC9-E8CE-FF77BC705373}"/>
              </a:ext>
            </a:extLst>
          </p:cNvPr>
          <p:cNvCxnSpPr>
            <a:endCxn id="12" idx="2"/>
          </p:cNvCxnSpPr>
          <p:nvPr/>
        </p:nvCxnSpPr>
        <p:spPr>
          <a:xfrm>
            <a:off x="9301018" y="4858327"/>
            <a:ext cx="0" cy="10044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784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F1D3E-F4BF-D298-73AB-ABDA5F56A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3E736-88E7-3F41-E289-7F2020E2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95745"/>
          </a:xfrm>
        </p:spPr>
        <p:txBody>
          <a:bodyPr/>
          <a:lstStyle/>
          <a:p>
            <a:r>
              <a:rPr lang="en-US" dirty="0"/>
              <a:t>Design and References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42544-A041-16E0-652B-2C7D91D47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52945"/>
            <a:ext cx="3932237" cy="534785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Sobel X &amp; 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Similar structure and design is used for the design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main difference that must be taken in to account is the specific array indexes used.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State Machine design is used and multiple registers are used to break down arithmetic logic.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Saturation limits are also applied to keep ranges in check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6C2E740-D4C8-E9B1-D04D-936B0632BA18}"/>
              </a:ext>
            </a:extLst>
          </p:cNvPr>
          <p:cNvSpPr/>
          <p:nvPr/>
        </p:nvSpPr>
        <p:spPr>
          <a:xfrm>
            <a:off x="7094634" y="479135"/>
            <a:ext cx="1283855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S1_idle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ED9518-D014-2BA2-E810-CAA27F384177}"/>
              </a:ext>
            </a:extLst>
          </p:cNvPr>
          <p:cNvSpPr/>
          <p:nvPr/>
        </p:nvSpPr>
        <p:spPr>
          <a:xfrm>
            <a:off x="6250229" y="2460495"/>
            <a:ext cx="1283855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S1_mult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D9ECA1D-503E-C55F-5990-4A0775EC6526}"/>
              </a:ext>
            </a:extLst>
          </p:cNvPr>
          <p:cNvSpPr/>
          <p:nvPr/>
        </p:nvSpPr>
        <p:spPr>
          <a:xfrm>
            <a:off x="7435401" y="4010724"/>
            <a:ext cx="1283855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S1_add1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63A565-63B5-9DB6-0C92-77D187CA7A04}"/>
              </a:ext>
            </a:extLst>
          </p:cNvPr>
          <p:cNvSpPr/>
          <p:nvPr/>
        </p:nvSpPr>
        <p:spPr>
          <a:xfrm>
            <a:off x="9728888" y="3547255"/>
            <a:ext cx="1283855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S1_add2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B823DA3-BDF4-4960-49FD-9EB9CF5CECFC}"/>
              </a:ext>
            </a:extLst>
          </p:cNvPr>
          <p:cNvSpPr/>
          <p:nvPr/>
        </p:nvSpPr>
        <p:spPr>
          <a:xfrm>
            <a:off x="10499420" y="2163127"/>
            <a:ext cx="1283855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S1_add3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BC7DE1B-2A4C-846F-8CCA-D7C3A64E24E8}"/>
              </a:ext>
            </a:extLst>
          </p:cNvPr>
          <p:cNvSpPr/>
          <p:nvPr/>
        </p:nvSpPr>
        <p:spPr>
          <a:xfrm>
            <a:off x="9728888" y="673433"/>
            <a:ext cx="1367877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S1_done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32CBEA41-60B2-01C5-6166-6B9C577523F7}"/>
              </a:ext>
            </a:extLst>
          </p:cNvPr>
          <p:cNvCxnSpPr>
            <a:cxnSpLocks/>
            <a:stCxn id="3" idx="2"/>
            <a:endCxn id="7" idx="1"/>
          </p:cNvCxnSpPr>
          <p:nvPr/>
        </p:nvCxnSpPr>
        <p:spPr>
          <a:xfrm rot="10800000" flipV="1">
            <a:off x="6438246" y="1052944"/>
            <a:ext cx="656389" cy="1575615"/>
          </a:xfrm>
          <a:prstGeom prst="curvedConnector2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C24799E5-071C-CBC0-675A-CED412857BC5}"/>
              </a:ext>
            </a:extLst>
          </p:cNvPr>
          <p:cNvCxnSpPr>
            <a:cxnSpLocks/>
            <a:stCxn id="7" idx="4"/>
            <a:endCxn id="8" idx="2"/>
          </p:cNvCxnSpPr>
          <p:nvPr/>
        </p:nvCxnSpPr>
        <p:spPr>
          <a:xfrm rot="16200000" flipH="1">
            <a:off x="6675569" y="3824702"/>
            <a:ext cx="976420" cy="543244"/>
          </a:xfrm>
          <a:prstGeom prst="curvedConnector2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59C32410-490A-8916-B7B5-16B10A070D89}"/>
              </a:ext>
            </a:extLst>
          </p:cNvPr>
          <p:cNvCxnSpPr>
            <a:cxnSpLocks/>
            <a:stCxn id="8" idx="4"/>
            <a:endCxn id="13" idx="4"/>
          </p:cNvCxnSpPr>
          <p:nvPr/>
        </p:nvCxnSpPr>
        <p:spPr>
          <a:xfrm rot="5400000" flipH="1" flipV="1">
            <a:off x="8992337" y="3779865"/>
            <a:ext cx="463469" cy="2293487"/>
          </a:xfrm>
          <a:prstGeom prst="curvedConnector3">
            <a:avLst>
              <a:gd name="adj1" fmla="val -49324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A9438654-6ADE-FDC1-48AA-3F5ABBA3B616}"/>
              </a:ext>
            </a:extLst>
          </p:cNvPr>
          <p:cNvCxnSpPr>
            <a:cxnSpLocks/>
            <a:stCxn id="13" idx="6"/>
            <a:endCxn id="15" idx="5"/>
          </p:cNvCxnSpPr>
          <p:nvPr/>
        </p:nvCxnSpPr>
        <p:spPr>
          <a:xfrm flipV="1">
            <a:off x="11012743" y="3142681"/>
            <a:ext cx="582516" cy="978384"/>
          </a:xfrm>
          <a:prstGeom prst="curvedConnector2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B85CF4AF-0C89-75DB-C599-317D7138D507}"/>
              </a:ext>
            </a:extLst>
          </p:cNvPr>
          <p:cNvCxnSpPr>
            <a:cxnSpLocks/>
            <a:stCxn id="15" idx="7"/>
            <a:endCxn id="17" idx="6"/>
          </p:cNvCxnSpPr>
          <p:nvPr/>
        </p:nvCxnSpPr>
        <p:spPr>
          <a:xfrm rot="16200000" flipV="1">
            <a:off x="10804038" y="1539971"/>
            <a:ext cx="1083949" cy="498494"/>
          </a:xfrm>
          <a:prstGeom prst="curvedConnector2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8FE4DBAF-F871-6078-AD99-FC6C85883154}"/>
              </a:ext>
            </a:extLst>
          </p:cNvPr>
          <p:cNvCxnSpPr>
            <a:cxnSpLocks/>
            <a:stCxn id="17" idx="0"/>
            <a:endCxn id="3" idx="7"/>
          </p:cNvCxnSpPr>
          <p:nvPr/>
        </p:nvCxnSpPr>
        <p:spPr>
          <a:xfrm rot="16200000" flipV="1">
            <a:off x="9288534" y="-450860"/>
            <a:ext cx="26233" cy="2222354"/>
          </a:xfrm>
          <a:prstGeom prst="curvedConnector3">
            <a:avLst>
              <a:gd name="adj1" fmla="val 1612084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Picture 87">
            <a:extLst>
              <a:ext uri="{FF2B5EF4-FFF2-40B4-BE49-F238E27FC236}">
                <a16:creationId xmlns:a16="http://schemas.microsoft.com/office/drawing/2014/main" id="{336CDEBA-F197-35AA-8112-BA7DE3A8F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42" y="3923954"/>
            <a:ext cx="6030167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78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AB190-665E-3BC4-66CB-FB4875212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CC1E-168E-B5C8-83B1-BA2688E50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95745"/>
          </a:xfrm>
        </p:spPr>
        <p:txBody>
          <a:bodyPr/>
          <a:lstStyle/>
          <a:p>
            <a:r>
              <a:rPr lang="en-US" dirty="0"/>
              <a:t>Design and References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CFCA7-563F-C43E-4E42-DAA8F2019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52945"/>
            <a:ext cx="3932237" cy="534785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Square Root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Square root design is based on reference code and documents.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Code Reference: </a:t>
            </a:r>
            <a:r>
              <a:rPr lang="en-US" dirty="0">
                <a:hlinkClick r:id="rId2"/>
              </a:rPr>
              <a:t>link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Document Reference: </a:t>
            </a:r>
            <a:r>
              <a:rPr lang="en-US" dirty="0">
                <a:hlinkClick r:id="rId3"/>
              </a:rPr>
              <a:t>link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Original design  is only start controlled and has no state machine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Design was updated to perform logic in a state machine format instead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2401D1-1AA7-39F4-1EF0-65E32CC08BBD}"/>
              </a:ext>
            </a:extLst>
          </p:cNvPr>
          <p:cNvSpPr/>
          <p:nvPr/>
        </p:nvSpPr>
        <p:spPr>
          <a:xfrm>
            <a:off x="7094634" y="479135"/>
            <a:ext cx="1283855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S1_idle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628C0F-A3F3-4A39-1504-40CC364D64F1}"/>
              </a:ext>
            </a:extLst>
          </p:cNvPr>
          <p:cNvSpPr/>
          <p:nvPr/>
        </p:nvSpPr>
        <p:spPr>
          <a:xfrm>
            <a:off x="8659722" y="2333504"/>
            <a:ext cx="1283855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S1_busy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76EEBA2-65B9-4646-69F9-BA7C04AAE10C}"/>
              </a:ext>
            </a:extLst>
          </p:cNvPr>
          <p:cNvSpPr/>
          <p:nvPr/>
        </p:nvSpPr>
        <p:spPr>
          <a:xfrm>
            <a:off x="9728888" y="673433"/>
            <a:ext cx="1367877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S1_done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9CFA6C5A-A91C-D7A4-F102-C232C7E070A5}"/>
              </a:ext>
            </a:extLst>
          </p:cNvPr>
          <p:cNvCxnSpPr>
            <a:cxnSpLocks/>
            <a:stCxn id="3" idx="2"/>
            <a:endCxn id="7" idx="2"/>
          </p:cNvCxnSpPr>
          <p:nvPr/>
        </p:nvCxnSpPr>
        <p:spPr>
          <a:xfrm rot="10800000" flipH="1" flipV="1">
            <a:off x="7094634" y="1052944"/>
            <a:ext cx="1565088" cy="1854369"/>
          </a:xfrm>
          <a:prstGeom prst="curvedConnector3">
            <a:avLst>
              <a:gd name="adj1" fmla="val -14606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724E46ED-EDA2-19A6-A473-D35564F183E2}"/>
              </a:ext>
            </a:extLst>
          </p:cNvPr>
          <p:cNvCxnSpPr>
            <a:cxnSpLocks/>
            <a:stCxn id="7" idx="6"/>
            <a:endCxn id="17" idx="6"/>
          </p:cNvCxnSpPr>
          <p:nvPr/>
        </p:nvCxnSpPr>
        <p:spPr>
          <a:xfrm flipV="1">
            <a:off x="9943577" y="1247243"/>
            <a:ext cx="1153188" cy="1660071"/>
          </a:xfrm>
          <a:prstGeom prst="curvedConnector3">
            <a:avLst>
              <a:gd name="adj1" fmla="val 135270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1DC0B6CE-5C2F-D625-1D40-2E83FC27027F}"/>
              </a:ext>
            </a:extLst>
          </p:cNvPr>
          <p:cNvCxnSpPr>
            <a:cxnSpLocks/>
            <a:stCxn id="17" idx="0"/>
            <a:endCxn id="3" idx="7"/>
          </p:cNvCxnSpPr>
          <p:nvPr/>
        </p:nvCxnSpPr>
        <p:spPr>
          <a:xfrm rot="16200000" flipV="1">
            <a:off x="9288534" y="-450860"/>
            <a:ext cx="26233" cy="2222354"/>
          </a:xfrm>
          <a:prstGeom prst="curvedConnector3">
            <a:avLst>
              <a:gd name="adj1" fmla="val 1612084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1FB27465-E28C-9FFF-65A5-EAEF09105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2907313"/>
            <a:ext cx="3169899" cy="368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525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198F-6536-FB4B-D37A-66739A828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9401-07F2-272F-760F-D0B9D0D72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95745"/>
          </a:xfrm>
        </p:spPr>
        <p:txBody>
          <a:bodyPr/>
          <a:lstStyle/>
          <a:p>
            <a:r>
              <a:rPr lang="en-US" dirty="0"/>
              <a:t>Design and References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BD5589-A6DA-E765-E76B-99743CCFD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52945"/>
            <a:ext cx="3932237" cy="534785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Sobel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Top Module design that sequences the steps required to perform the Sobel filter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Start signals are controlled for the square root module as well as the Sobel X &amp; Y modules.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done signal from the lower level modules are used to transition through states.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D05A245-941D-7078-C925-85FE11BD20F9}"/>
              </a:ext>
            </a:extLst>
          </p:cNvPr>
          <p:cNvSpPr/>
          <p:nvPr/>
        </p:nvSpPr>
        <p:spPr>
          <a:xfrm>
            <a:off x="7094634" y="479135"/>
            <a:ext cx="1283855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S1_idle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7779ED-938E-25AD-BB69-93AB2DE2FC49}"/>
              </a:ext>
            </a:extLst>
          </p:cNvPr>
          <p:cNvSpPr/>
          <p:nvPr/>
        </p:nvSpPr>
        <p:spPr>
          <a:xfrm>
            <a:off x="6250229" y="2460495"/>
            <a:ext cx="1283855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S1_filter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7983DC-5056-7FD7-572F-2FCD01C9F8D2}"/>
              </a:ext>
            </a:extLst>
          </p:cNvPr>
          <p:cNvSpPr/>
          <p:nvPr/>
        </p:nvSpPr>
        <p:spPr>
          <a:xfrm>
            <a:off x="7435401" y="4010724"/>
            <a:ext cx="1283855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S1_mult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351AC56-7BA3-8176-451A-099C5CDA9D68}"/>
              </a:ext>
            </a:extLst>
          </p:cNvPr>
          <p:cNvSpPr/>
          <p:nvPr/>
        </p:nvSpPr>
        <p:spPr>
          <a:xfrm>
            <a:off x="9728888" y="3547255"/>
            <a:ext cx="1283855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S1_add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138E20-9069-0CA6-8AC0-FDE2F611052D}"/>
              </a:ext>
            </a:extLst>
          </p:cNvPr>
          <p:cNvSpPr/>
          <p:nvPr/>
        </p:nvSpPr>
        <p:spPr>
          <a:xfrm>
            <a:off x="10034650" y="2163127"/>
            <a:ext cx="1748626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S1_sqr_root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5E802CA-C62B-16AC-4D6D-70741A319A4E}"/>
              </a:ext>
            </a:extLst>
          </p:cNvPr>
          <p:cNvSpPr/>
          <p:nvPr/>
        </p:nvSpPr>
        <p:spPr>
          <a:xfrm>
            <a:off x="9728888" y="673433"/>
            <a:ext cx="1367877" cy="1147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S1_done</a:t>
            </a:r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DAB10B17-50B2-4EB9-45DF-234D11A3A0BA}"/>
              </a:ext>
            </a:extLst>
          </p:cNvPr>
          <p:cNvCxnSpPr>
            <a:cxnSpLocks/>
            <a:stCxn id="3" idx="2"/>
            <a:endCxn id="7" idx="1"/>
          </p:cNvCxnSpPr>
          <p:nvPr/>
        </p:nvCxnSpPr>
        <p:spPr>
          <a:xfrm rot="10800000" flipV="1">
            <a:off x="6438246" y="1052944"/>
            <a:ext cx="656389" cy="1575615"/>
          </a:xfrm>
          <a:prstGeom prst="curvedConnector2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7D47E052-101F-8D68-DC8F-363FF33E04EE}"/>
              </a:ext>
            </a:extLst>
          </p:cNvPr>
          <p:cNvCxnSpPr>
            <a:cxnSpLocks/>
            <a:stCxn id="7" idx="4"/>
            <a:endCxn id="8" idx="2"/>
          </p:cNvCxnSpPr>
          <p:nvPr/>
        </p:nvCxnSpPr>
        <p:spPr>
          <a:xfrm rot="16200000" flipH="1">
            <a:off x="6675569" y="3824702"/>
            <a:ext cx="976420" cy="543244"/>
          </a:xfrm>
          <a:prstGeom prst="curvedConnector2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E456F194-035E-5E8B-9465-03C0F4983E48}"/>
              </a:ext>
            </a:extLst>
          </p:cNvPr>
          <p:cNvCxnSpPr>
            <a:cxnSpLocks/>
            <a:stCxn id="8" idx="4"/>
            <a:endCxn id="13" idx="4"/>
          </p:cNvCxnSpPr>
          <p:nvPr/>
        </p:nvCxnSpPr>
        <p:spPr>
          <a:xfrm rot="5400000" flipH="1" flipV="1">
            <a:off x="8992337" y="3779865"/>
            <a:ext cx="463469" cy="2293487"/>
          </a:xfrm>
          <a:prstGeom prst="curvedConnector3">
            <a:avLst>
              <a:gd name="adj1" fmla="val -49324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0E6A4D33-3DCE-6B7D-E1A0-7A9FDD8633FC}"/>
              </a:ext>
            </a:extLst>
          </p:cNvPr>
          <p:cNvCxnSpPr>
            <a:cxnSpLocks/>
            <a:stCxn id="13" idx="6"/>
            <a:endCxn id="15" idx="5"/>
          </p:cNvCxnSpPr>
          <p:nvPr/>
        </p:nvCxnSpPr>
        <p:spPr>
          <a:xfrm flipV="1">
            <a:off x="11012743" y="3142681"/>
            <a:ext cx="514453" cy="978384"/>
          </a:xfrm>
          <a:prstGeom prst="curvedConnector2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24DB1D4E-308B-0694-F3AF-DD8D630B950D}"/>
              </a:ext>
            </a:extLst>
          </p:cNvPr>
          <p:cNvCxnSpPr>
            <a:cxnSpLocks/>
            <a:stCxn id="15" idx="7"/>
            <a:endCxn id="17" idx="6"/>
          </p:cNvCxnSpPr>
          <p:nvPr/>
        </p:nvCxnSpPr>
        <p:spPr>
          <a:xfrm rot="16200000" flipV="1">
            <a:off x="10770007" y="1574002"/>
            <a:ext cx="1083949" cy="430431"/>
          </a:xfrm>
          <a:prstGeom prst="curvedConnector2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B36AC4B6-401D-4017-8988-B8C84C02C04B}"/>
              </a:ext>
            </a:extLst>
          </p:cNvPr>
          <p:cNvCxnSpPr>
            <a:cxnSpLocks/>
            <a:stCxn id="17" idx="0"/>
            <a:endCxn id="3" idx="7"/>
          </p:cNvCxnSpPr>
          <p:nvPr/>
        </p:nvCxnSpPr>
        <p:spPr>
          <a:xfrm rot="16200000" flipV="1">
            <a:off x="9288534" y="-450860"/>
            <a:ext cx="26233" cy="2222354"/>
          </a:xfrm>
          <a:prstGeom prst="curvedConnector3">
            <a:avLst>
              <a:gd name="adj1" fmla="val 1612084"/>
            </a:avLst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38BB8A7-60CA-2E87-1BC8-58D83A004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232" y="3203523"/>
            <a:ext cx="3932237" cy="344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08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D467C-F1FC-9EF4-57DD-F21280408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9675-6D1A-4EFA-4621-F6AA05BAF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95745"/>
          </a:xfrm>
        </p:spPr>
        <p:txBody>
          <a:bodyPr/>
          <a:lstStyle/>
          <a:p>
            <a:r>
              <a:rPr lang="en-US" dirty="0"/>
              <a:t>Testbench Simulation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0785E7-6EFF-E0A9-4BD8-78D9E8D13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52945"/>
            <a:ext cx="3932237" cy="534785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Testbench stimulus generated from using a 8-bit 9x1 array, meant to represent matrix sample from an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Testbench verification is done by calculating the expected result using integer variables, placing the square root value in to a real variable, and then flooring it to 8-bit integer value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stimulus is randomized 100 times and asserted after each run.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B8F79C-8A14-1714-B383-9DB0DFFFC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5406618"/>
            <a:ext cx="1917867" cy="12100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8F7BEB-A673-FFE4-2296-4A20C9FCD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510" y="3558748"/>
            <a:ext cx="6296904" cy="30579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ABB52C-7011-E217-8AF9-04C20FD9B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510" y="1078295"/>
            <a:ext cx="6296904" cy="240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943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F8BE-679F-E5C1-B96A-D1526E8E8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64135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A65844-1CF3-3626-088B-7D735ED77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08774"/>
            <a:ext cx="11734800" cy="276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07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408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ECE 622 Project – Sobel Filter Operation</vt:lpstr>
      <vt:lpstr>Overview</vt:lpstr>
      <vt:lpstr>Introduction</vt:lpstr>
      <vt:lpstr>Design and References</vt:lpstr>
      <vt:lpstr>Design and References</vt:lpstr>
      <vt:lpstr>Design and References</vt:lpstr>
      <vt:lpstr>Design and References</vt:lpstr>
      <vt:lpstr>Testbench Simulation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Funes, Aaron</dc:creator>
  <cp:lastModifiedBy>Funes, Aaron</cp:lastModifiedBy>
  <cp:revision>8</cp:revision>
  <dcterms:created xsi:type="dcterms:W3CDTF">2026-05-11T02:13:43Z</dcterms:created>
  <dcterms:modified xsi:type="dcterms:W3CDTF">2026-05-11T04:42:15Z</dcterms:modified>
</cp:coreProperties>
</file>